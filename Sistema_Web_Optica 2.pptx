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 e caso" id="{6E78DD9B-26BC-5CE4-E752-A6D936082978}">
          <p14:sldIdLst>
            <p14:sldId id="256"/>
            <p14:sldId id="257"/>
            <p14:sldId id="258"/>
            <p14:sldId id="259"/>
            <p14:sldId id="260"/>
          </p14:sldIdLst>
        </p14:section>
        <p14:section name="Problema e objectivos" id="{F6147571-4041-CA2F-99A8-98DA08A7F0B4}">
          <p14:sldIdLst>
            <p14:sldId id="261"/>
            <p14:sldId id="262"/>
            <p14:sldId id="263"/>
            <p14:sldId id="264"/>
          </p14:sldIdLst>
        </p14:section>
        <p14:section name="Comparação" id="{4773478B-5ED2-FC7E-FD8E-14E381004643}">
          <p14:sldIdLst>
            <p14:sldId id="265"/>
            <p14:sldId id="266"/>
          </p14:sldIdLst>
        </p14:section>
        <p14:section name="Tecnologias e protótipo" id="{9EDDBB1A-04F8-7D6D-A2AC-B3CC8CED1DC2}">
          <p14:sldIdLst>
            <p14:sldId id="267"/>
            <p14:sldId id="268"/>
            <p14:sldId id="269"/>
          </p14:sldIdLst>
        </p14:section>
        <p14:section name="Conclusão" id="{195EA706-3BC5-4138-527A-6E6274225372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513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1188720"/>
            <a:ext cx="56692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3063240"/>
            <a:ext cx="56692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45720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EE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C99"/>
                </a:solidFill>
              </a:rPr>
              <a:t>Sistema Web para uma Óptica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118872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Desenvolvimento de um Sistema Web para uma Óptica</a:t>
            </a:r>
            <a:endParaRPr lang="en-US" sz="38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30632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Protótipo em HTML, CSS, PHP e MySQL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[Nome do estudante] · [Instituição] · [Disciplina] · Luanda, Outubro de 2026</a:t>
            </a:r>
            <a:endParaRPr lang="en-US" sz="1400" dirty="0"/>
          </a:p>
        </p:txBody>
      </p:sp>
      <p:sp>
        <p:nvSpPr>
          <p:cNvPr id="5" name="Círculo"/>
          <p:cNvSpPr/>
          <p:nvPr/>
        </p:nvSpPr>
        <p:spPr>
          <a:xfrm>
            <a:off x="6675120" y="1554480"/>
            <a:ext cx="1828800" cy="1828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Íc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0116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Índice</a:t>
            </a:r>
            <a:endParaRPr lang="en-US" sz="3600" dirty="0"/>
          </a:p>
        </p:txBody>
      </p:sp>
      <p:sp>
        <p:nvSpPr>
          <p:cNvPr id="3" name="Linha"/>
          <p:cNvSpPr/>
          <p:nvPr/>
        </p:nvSpPr>
        <p:spPr>
          <a:xfrm>
            <a:off x="548640" y="1371600"/>
            <a:ext cx="80467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264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26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37160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Introdução e estudo de caso</a:t>
            </a:r>
            <a:endParaRPr lang="en-US" sz="1800" dirty="0"/>
          </a:p>
        </p:txBody>
      </p:sp>
      <p:sp>
        <p:nvSpPr>
          <p:cNvPr id="7" name="Linha"/>
          <p:cNvSpPr/>
          <p:nvPr/>
        </p:nvSpPr>
        <p:spPr>
          <a:xfrm>
            <a:off x="548640" y="2029968"/>
            <a:ext cx="80467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0848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02996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Problemática, objectivos e pergunta de pesquisa</a:t>
            </a:r>
            <a:endParaRPr lang="en-US" sz="1800" dirty="0"/>
          </a:p>
        </p:txBody>
      </p:sp>
      <p:sp>
        <p:nvSpPr>
          <p:cNvPr id="11" name="Linha"/>
          <p:cNvSpPr/>
          <p:nvPr/>
        </p:nvSpPr>
        <p:spPr>
          <a:xfrm>
            <a:off x="548640" y="2688336"/>
            <a:ext cx="80467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68833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Estudo de comparação</a:t>
            </a:r>
            <a:endParaRPr lang="en-US" sz="1800" dirty="0"/>
          </a:p>
        </p:txBody>
      </p:sp>
      <p:sp>
        <p:nvSpPr>
          <p:cNvPr id="15" name="Linha"/>
          <p:cNvSpPr/>
          <p:nvPr/>
        </p:nvSpPr>
        <p:spPr>
          <a:xfrm>
            <a:off x="548640" y="3346704"/>
            <a:ext cx="80467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4015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34670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Tecnologias, arquitectura e protótipo</a:t>
            </a:r>
            <a:endParaRPr lang="en-US" sz="1800" dirty="0"/>
          </a:p>
        </p:txBody>
      </p:sp>
      <p:sp>
        <p:nvSpPr>
          <p:cNvPr id="19" name="Linha"/>
          <p:cNvSpPr/>
          <p:nvPr/>
        </p:nvSpPr>
        <p:spPr>
          <a:xfrm>
            <a:off x="548640" y="4005072"/>
            <a:ext cx="80467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0599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0050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Conclusão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Introdução</a:t>
            </a:r>
            <a:endParaRPr lang="en-US" sz="3600" dirty="0"/>
          </a:p>
        </p:txBody>
      </p:sp>
      <p:sp>
        <p:nvSpPr>
          <p:cNvPr id="3" name="Linha"/>
          <p:cNvSpPr/>
          <p:nvPr/>
        </p:nvSpPr>
        <p:spPr>
          <a:xfrm>
            <a:off x="548640" y="1371600"/>
            <a:ext cx="804672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írculo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Íc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716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Pequenas empresas precisam de gerir clientes, stock e vendas de forma digital</a:t>
            </a:r>
            <a:endParaRPr lang="en-US" sz="1500" dirty="0"/>
          </a:p>
        </p:txBody>
      </p:sp>
      <p:sp>
        <p:nvSpPr>
          <p:cNvPr id="7" name="Linha"/>
          <p:cNvSpPr/>
          <p:nvPr/>
        </p:nvSpPr>
        <p:spPr>
          <a:xfrm>
            <a:off x="548640" y="2194560"/>
            <a:ext cx="804672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Círculo"/>
          <p:cNvSpPr/>
          <p:nvPr/>
        </p:nvSpPr>
        <p:spPr>
          <a:xfrm>
            <a:off x="685800" y="22860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Íc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241173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1945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Uma óptica trata dados sensíveis: receitas, medidas, encomendas e pagamentos</a:t>
            </a:r>
            <a:endParaRPr lang="en-US" sz="1500" dirty="0"/>
          </a:p>
        </p:txBody>
      </p:sp>
      <p:sp>
        <p:nvSpPr>
          <p:cNvPr id="11" name="Linha"/>
          <p:cNvSpPr/>
          <p:nvPr/>
        </p:nvSpPr>
        <p:spPr>
          <a:xfrm>
            <a:off x="548640" y="3017520"/>
            <a:ext cx="804672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Círculo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Íco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" y="323469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0175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Registos em papel aumentam o risco de erros e perdas</a:t>
            </a:r>
            <a:endParaRPr lang="en-US" sz="1500" dirty="0"/>
          </a:p>
        </p:txBody>
      </p:sp>
      <p:sp>
        <p:nvSpPr>
          <p:cNvPr id="15" name="Linha"/>
          <p:cNvSpPr/>
          <p:nvPr/>
        </p:nvSpPr>
        <p:spPr>
          <a:xfrm>
            <a:off x="548640" y="3840480"/>
            <a:ext cx="804672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Círculo"/>
          <p:cNvSpPr/>
          <p:nvPr/>
        </p:nvSpPr>
        <p:spPr>
          <a:xfrm>
            <a:off x="685800" y="3931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Íco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" y="405765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38404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Proposta: protótipo de sistema web em HTML, CSS, PHP e MySQL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Estudo de caso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Óptica Visão Nítida (caso ilustrativo, Luanda): vende armações, lentes e óculos de sol e oferece medição da vista.</a:t>
            </a:r>
            <a:endParaRPr lang="en-US" sz="1500" dirty="0"/>
          </a:p>
        </p:txBody>
      </p:sp>
      <p:sp>
        <p:nvSpPr>
          <p:cNvPr id="4" name="Cartão"/>
          <p:cNvSpPr/>
          <p:nvPr/>
        </p:nvSpPr>
        <p:spPr>
          <a:xfrm>
            <a:off x="548640" y="1920240"/>
            <a:ext cx="2560320" cy="25603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4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Pessoas na equipa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37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 gerente, 2 atendentes e 1 optometrista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3291840" y="1920240"/>
            <a:ext cx="2560320" cy="25603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044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4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Perfis no sistema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337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Administrador, atendente, optometrista e cliente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6035040" y="1920240"/>
            <a:ext cx="2560320" cy="25603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6364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14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Requisitos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337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 funcionais e 6 não funcionais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Processos actuais</a:t>
            </a:r>
            <a:endParaRPr lang="en-US" sz="3600" dirty="0"/>
          </a:p>
        </p:txBody>
      </p:sp>
      <p:sp>
        <p:nvSpPr>
          <p:cNvPr id="3" name="Cartão"/>
          <p:cNvSpPr/>
          <p:nvPr/>
        </p:nvSpPr>
        <p:spPr>
          <a:xfrm>
            <a:off x="54864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írculo"/>
          <p:cNvSpPr/>
          <p:nvPr/>
        </p:nvSpPr>
        <p:spPr>
          <a:xfrm>
            <a:off x="77724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Íc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Clientes e receitas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Fichas em papel e medidas anotadas à mão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329184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Círculo"/>
          <p:cNvSpPr/>
          <p:nvPr/>
        </p:nvSpPr>
        <p:spPr>
          <a:xfrm>
            <a:off x="352044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Íc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8745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Stock e vendas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Caderno ou folha de cálculo e recibos manuscritos</a:t>
            </a:r>
            <a:endParaRPr lang="en-US" sz="1400" dirty="0"/>
          </a:p>
        </p:txBody>
      </p:sp>
      <p:sp>
        <p:nvSpPr>
          <p:cNvPr id="13" name="Cartão"/>
          <p:cNvSpPr/>
          <p:nvPr/>
        </p:nvSpPr>
        <p:spPr>
          <a:xfrm>
            <a:off x="603504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Círculo"/>
          <p:cNvSpPr/>
          <p:nvPr/>
        </p:nvSpPr>
        <p:spPr>
          <a:xfrm>
            <a:off x="626364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Íco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745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Marcações e encomendas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Agenda de papel e pedidos por telefone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Problemática</a:t>
            </a:r>
            <a:endParaRPr lang="en-US" sz="3600" dirty="0"/>
          </a:p>
        </p:txBody>
      </p:sp>
      <p:sp>
        <p:nvSpPr>
          <p:cNvPr id="3" name="Cartão"/>
          <p:cNvSpPr/>
          <p:nvPr/>
        </p:nvSpPr>
        <p:spPr>
          <a:xfrm>
            <a:off x="548640" y="137160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írculo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Íc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7160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Historial de receitas difícil de localizar</a:t>
            </a:r>
            <a:endParaRPr lang="en-US" sz="1400" dirty="0"/>
          </a:p>
        </p:txBody>
      </p:sp>
      <p:sp>
        <p:nvSpPr>
          <p:cNvPr id="7" name="Cartão"/>
          <p:cNvSpPr/>
          <p:nvPr/>
        </p:nvSpPr>
        <p:spPr>
          <a:xfrm>
            <a:off x="3291840" y="137160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Círculo"/>
          <p:cNvSpPr/>
          <p:nvPr/>
        </p:nvSpPr>
        <p:spPr>
          <a:xfrm>
            <a:off x="347472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Íc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9659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160520" y="137160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Erros de transcrição e perda de documentos</a:t>
            </a:r>
            <a:endParaRPr lang="en-US" sz="1400" dirty="0"/>
          </a:p>
        </p:txBody>
      </p:sp>
      <p:sp>
        <p:nvSpPr>
          <p:cNvPr id="11" name="Cartão"/>
          <p:cNvSpPr/>
          <p:nvPr/>
        </p:nvSpPr>
        <p:spPr>
          <a:xfrm>
            <a:off x="6035040" y="137160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Círculo"/>
          <p:cNvSpPr/>
          <p:nvPr/>
        </p:nvSpPr>
        <p:spPr>
          <a:xfrm>
            <a:off x="621792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Íco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9659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137160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Stock sem controlo rigoroso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54864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Círculo"/>
          <p:cNvSpPr/>
          <p:nvPr/>
        </p:nvSpPr>
        <p:spPr>
          <a:xfrm>
            <a:off x="731520" y="3474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Íco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6118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30175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Sem relatórios para avaliar as vendas</a:t>
            </a:r>
            <a:endParaRPr lang="en-US" sz="1400" dirty="0"/>
          </a:p>
        </p:txBody>
      </p:sp>
      <p:sp>
        <p:nvSpPr>
          <p:cNvPr id="19" name="Cartão"/>
          <p:cNvSpPr/>
          <p:nvPr/>
        </p:nvSpPr>
        <p:spPr>
          <a:xfrm>
            <a:off x="329184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Círculo"/>
          <p:cNvSpPr/>
          <p:nvPr/>
        </p:nvSpPr>
        <p:spPr>
          <a:xfrm>
            <a:off x="3474720" y="3474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4" descr="Ícon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6118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160520" y="30175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Marcações com conflitos de horário</a:t>
            </a:r>
            <a:endParaRPr lang="en-US" sz="1400" dirty="0"/>
          </a:p>
        </p:txBody>
      </p:sp>
      <p:sp>
        <p:nvSpPr>
          <p:cNvPr id="23" name="Cartão"/>
          <p:cNvSpPr/>
          <p:nvPr/>
        </p:nvSpPr>
        <p:spPr>
          <a:xfrm>
            <a:off x="603504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Círculo"/>
          <p:cNvSpPr/>
          <p:nvPr/>
        </p:nvSpPr>
        <p:spPr>
          <a:xfrm>
            <a:off x="6217920" y="3474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5" descr="Íco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61188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903720" y="30175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Dados pessoais expostos em papel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457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Objectivo geral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Desenvolver o protótipo de um sistema web para uma óptica, com HTML, CSS, PHP e MySQL, que informatize e integre a gestão de clientes, receitas, stock, vendas e marcações.</a:t>
            </a:r>
            <a:endParaRPr lang="en-US" sz="2400" dirty="0"/>
          </a:p>
        </p:txBody>
      </p:sp>
      <p:sp>
        <p:nvSpPr>
          <p:cNvPr id="4" name="Círculo"/>
          <p:cNvSpPr/>
          <p:nvPr/>
        </p:nvSpPr>
        <p:spPr>
          <a:xfrm>
            <a:off x="6949440" y="2011680"/>
            <a:ext cx="1463040" cy="14630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Íc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3774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Objectivos específicos</a:t>
            </a:r>
            <a:endParaRPr lang="en-US" sz="3600" dirty="0"/>
          </a:p>
        </p:txBody>
      </p:sp>
      <p:sp>
        <p:nvSpPr>
          <p:cNvPr id="3" name="Cartão"/>
          <p:cNvSpPr/>
          <p:nvPr/>
        </p:nvSpPr>
        <p:spPr>
          <a:xfrm>
            <a:off x="548640" y="1371600"/>
            <a:ext cx="39319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727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3716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Analisar os processos actuais da óptica</a:t>
            </a:r>
            <a:endParaRPr lang="en-US" sz="1400" dirty="0"/>
          </a:p>
        </p:txBody>
      </p:sp>
      <p:sp>
        <p:nvSpPr>
          <p:cNvPr id="7" name="Cartão"/>
          <p:cNvSpPr/>
          <p:nvPr/>
        </p:nvSpPr>
        <p:spPr>
          <a:xfrm>
            <a:off x="4663440" y="1371600"/>
            <a:ext cx="39319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5727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3716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Levantar requisitos funcionais e não funcionais</a:t>
            </a:r>
            <a:endParaRPr lang="en-US" sz="1400" dirty="0"/>
          </a:p>
        </p:txBody>
      </p:sp>
      <p:sp>
        <p:nvSpPr>
          <p:cNvPr id="11" name="Cartão"/>
          <p:cNvSpPr/>
          <p:nvPr/>
        </p:nvSpPr>
        <p:spPr>
          <a:xfrm>
            <a:off x="548640" y="2468880"/>
            <a:ext cx="39319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6700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4688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Comparar gestão manual, folha de cálculo e sistema web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663440" y="2468880"/>
            <a:ext cx="39319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6700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4688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Justificar a escolha de HTML, CSS, PHP e MySQL</a:t>
            </a:r>
            <a:endParaRPr lang="en-US" sz="1400" dirty="0"/>
          </a:p>
        </p:txBody>
      </p:sp>
      <p:sp>
        <p:nvSpPr>
          <p:cNvPr id="19" name="Cartão"/>
          <p:cNvSpPr/>
          <p:nvPr/>
        </p:nvSpPr>
        <p:spPr>
          <a:xfrm>
            <a:off x="548640" y="3566160"/>
            <a:ext cx="39319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7673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5661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Projectar arquitectura, páginas e modelo de dados</a:t>
            </a:r>
            <a:endParaRPr lang="en-US" sz="1400" dirty="0"/>
          </a:p>
        </p:txBody>
      </p:sp>
      <p:sp>
        <p:nvSpPr>
          <p:cNvPr id="23" name="Cartão"/>
          <p:cNvSpPr/>
          <p:nvPr/>
        </p:nvSpPr>
        <p:spPr>
          <a:xfrm>
            <a:off x="4663440" y="3566160"/>
            <a:ext cx="39319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7673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35661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Propor medidas de segurança dos dados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457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Pergunta de pesquisa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De que forma o desenvolvimento de um sistema web baseado em HTML, CSS, PHP e MySQL pode melhorar a gestão de clientes, stock, vendas e marcações numa óptica?</a:t>
            </a:r>
            <a:endParaRPr lang="en-US" sz="2400" dirty="0"/>
          </a:p>
        </p:txBody>
      </p:sp>
      <p:sp>
        <p:nvSpPr>
          <p:cNvPr id="4" name="Círculo"/>
          <p:cNvSpPr/>
          <p:nvPr/>
        </p:nvSpPr>
        <p:spPr>
          <a:xfrm>
            <a:off x="6949440" y="2011680"/>
            <a:ext cx="1463040" cy="14630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Íc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3774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Comparação: métodos de gestão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Critério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Papel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Folha de cálculo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Sistema web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Organização dos dados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Dispersa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Ficheiros separados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Centralizada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Pesquisa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Lenta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Limitada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Rápida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Risco de erro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Elevado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Médio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Reduzido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Segurança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Fraca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Limitada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Por perfis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Acesso remoto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Inexistente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Parcial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Via navegador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Relatórios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Manuais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Com esforço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Automáticos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Custo inicial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Baixo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Baixo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Médio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Comparação: tecnologias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Critério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PHP + MySQL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Node.js + MongoDB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Django + PostgreSQL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Curva de aprendizagem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Suave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Moderada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Moderada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Dados relacionais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Muito boa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Menor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Muito boa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Alojamento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Amplamente suportado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Normalmente VPS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Configuração avançada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Ambiente local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Simples (XAMPP)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Simples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Moderado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Adequação ao trabalho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Muito elevada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Média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Média a elevada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Escolhida: PHP + MySQL, pela natureza relacional dos dados e pela facilidade de implementação.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Tecnologias a utilizar</a:t>
            </a:r>
            <a:endParaRPr lang="en-US" sz="3600" dirty="0"/>
          </a:p>
        </p:txBody>
      </p:sp>
      <p:sp>
        <p:nvSpPr>
          <p:cNvPr id="3" name="Cartão"/>
          <p:cNvSpPr/>
          <p:nvPr/>
        </p:nvSpPr>
        <p:spPr>
          <a:xfrm>
            <a:off x="548640" y="1371600"/>
            <a:ext cx="1874520" cy="301752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írculo"/>
          <p:cNvSpPr/>
          <p:nvPr/>
        </p:nvSpPr>
        <p:spPr>
          <a:xfrm>
            <a:off x="73152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Íc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17259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HTML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803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Estrutura páginas, formulários e tabelas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2606040" y="1371600"/>
            <a:ext cx="1874520" cy="301752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Círculo"/>
          <p:cNvSpPr/>
          <p:nvPr/>
        </p:nvSpPr>
        <p:spPr>
          <a:xfrm>
            <a:off x="278892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Íc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370" y="172593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8892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CSS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2788920" y="28803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Identidade visual e design responsivo</a:t>
            </a:r>
            <a:endParaRPr lang="en-US" sz="1400" dirty="0"/>
          </a:p>
        </p:txBody>
      </p:sp>
      <p:sp>
        <p:nvSpPr>
          <p:cNvPr id="13" name="Cartão"/>
          <p:cNvSpPr/>
          <p:nvPr/>
        </p:nvSpPr>
        <p:spPr>
          <a:xfrm>
            <a:off x="4663440" y="1371600"/>
            <a:ext cx="1874520" cy="301752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Círculo"/>
          <p:cNvSpPr/>
          <p:nvPr/>
        </p:nvSpPr>
        <p:spPr>
          <a:xfrm>
            <a:off x="484632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Íco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7770" y="172593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4632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PHP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28803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Lógica no servidor, sessões e acesso à base de dados via PDO</a:t>
            </a:r>
            <a:endParaRPr lang="en-US" sz="1400" dirty="0"/>
          </a:p>
        </p:txBody>
      </p:sp>
      <p:sp>
        <p:nvSpPr>
          <p:cNvPr id="18" name="Cartão"/>
          <p:cNvSpPr/>
          <p:nvPr/>
        </p:nvSpPr>
        <p:spPr>
          <a:xfrm>
            <a:off x="6720840" y="1371600"/>
            <a:ext cx="1874520" cy="301752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Círculo"/>
          <p:cNvSpPr/>
          <p:nvPr/>
        </p:nvSpPr>
        <p:spPr>
          <a:xfrm>
            <a:off x="690372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Íco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5170" y="172593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0372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MySQL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6903720" y="28803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Base de dados relacional com clientes, receitas e vendas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Arquitectura em três camadas</a:t>
            </a:r>
            <a:endParaRPr lang="en-US" sz="3600" dirty="0"/>
          </a:p>
        </p:txBody>
      </p:sp>
      <p:sp>
        <p:nvSpPr>
          <p:cNvPr id="3" name="Camada"/>
          <p:cNvSpPr/>
          <p:nvPr/>
        </p:nvSpPr>
        <p:spPr>
          <a:xfrm>
            <a:off x="548640" y="1325880"/>
            <a:ext cx="23774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4" name="Image 0" descr="Íc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81912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3258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Apresentação</a:t>
            </a:r>
            <a:endParaRPr lang="en-US" sz="1700" dirty="0"/>
          </a:p>
        </p:txBody>
      </p:sp>
      <p:sp>
        <p:nvSpPr>
          <p:cNvPr id="6" name="Descrição"/>
          <p:cNvSpPr/>
          <p:nvPr/>
        </p:nvSpPr>
        <p:spPr>
          <a:xfrm>
            <a:off x="3108960" y="1325880"/>
            <a:ext cx="54864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3291840" y="1325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HTML e CSS: interface do utilizador e formulários</a:t>
            </a:r>
            <a:endParaRPr lang="en-US" sz="1500" dirty="0"/>
          </a:p>
        </p:txBody>
      </p:sp>
      <p:sp>
        <p:nvSpPr>
          <p:cNvPr id="8" name="Camada"/>
          <p:cNvSpPr/>
          <p:nvPr/>
        </p:nvSpPr>
        <p:spPr>
          <a:xfrm>
            <a:off x="548640" y="2331720"/>
            <a:ext cx="23774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9" name="Image 1" descr="Íc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8775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331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Lógica</a:t>
            </a:r>
            <a:endParaRPr lang="en-US" sz="1700" dirty="0"/>
          </a:p>
        </p:txBody>
      </p:sp>
      <p:sp>
        <p:nvSpPr>
          <p:cNvPr id="11" name="Descrição"/>
          <p:cNvSpPr/>
          <p:nvPr/>
        </p:nvSpPr>
        <p:spPr>
          <a:xfrm>
            <a:off x="3108960" y="2331720"/>
            <a:ext cx="54864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3291840" y="23317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PHP no servidor Apache: validação, sessões e regras de negócio</a:t>
            </a:r>
            <a:endParaRPr lang="en-US" sz="1500" dirty="0"/>
          </a:p>
        </p:txBody>
      </p:sp>
      <p:sp>
        <p:nvSpPr>
          <p:cNvPr id="13" name="Camada"/>
          <p:cNvSpPr/>
          <p:nvPr/>
        </p:nvSpPr>
        <p:spPr>
          <a:xfrm>
            <a:off x="548640" y="3337560"/>
            <a:ext cx="23774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4" name="Image 2" descr="Íco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9359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33375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Dados</a:t>
            </a:r>
            <a:endParaRPr lang="en-US" sz="1700" dirty="0"/>
          </a:p>
        </p:txBody>
      </p:sp>
      <p:sp>
        <p:nvSpPr>
          <p:cNvPr id="16" name="Descrição"/>
          <p:cNvSpPr/>
          <p:nvPr/>
        </p:nvSpPr>
        <p:spPr>
          <a:xfrm>
            <a:off x="3108960" y="3337560"/>
            <a:ext cx="54864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3291840" y="33375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MySQL: armazenamento e integridade da informação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Ferramentas de apoio: XAMPP, phpMyAdmin, Visual Studio Code e Git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Protótipo proposto</a:t>
            </a:r>
            <a:endParaRPr lang="en-US" sz="3600" dirty="0"/>
          </a:p>
        </p:txBody>
      </p:sp>
      <p:sp>
        <p:nvSpPr>
          <p:cNvPr id="3" name="Cartão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írculo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Íc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7145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Páginas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8892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Público: início, catálogo, marcação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Restrito: painel, clientes, receitas, produtos, vendas, relatórios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Círculo"/>
          <p:cNvSpPr/>
          <p:nvPr/>
        </p:nvSpPr>
        <p:spPr>
          <a:xfrm>
            <a:off x="352044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Íc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7145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Base de dados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78892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8 tabelas: utilizador, cliente, receita, produto, venda, item_venda, consulta, encomenda</a:t>
            </a:r>
            <a:endParaRPr lang="en-US" sz="1400" dirty="0"/>
          </a:p>
        </p:txBody>
      </p:sp>
      <p:sp>
        <p:nvSpPr>
          <p:cNvPr id="13" name="Cartão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9525">
            <a:solidFill>
              <a:srgbClr val="D5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Círculo"/>
          <p:cNvSpPr/>
          <p:nvPr/>
        </p:nvSpPr>
        <p:spPr>
          <a:xfrm>
            <a:off x="626364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Íco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17145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Segurança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78892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password_hash e instruções preparadas (PDO)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Validação, sessões e HTTPS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Cópias de segurança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457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Conclusão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gestão manual limita o controlo da óptica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 sistema web centraliza dados e integra processos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HTML, CSS, PHP e MySQL são adequados ao projecto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Trabalho futuro: testes com utilizadores e lembretes automáticos</a:t>
            </a:r>
            <a:endParaRPr lang="en-US" sz="1800" dirty="0"/>
          </a:p>
        </p:txBody>
      </p:sp>
      <p:sp>
        <p:nvSpPr>
          <p:cNvPr id="4" name="Círculo"/>
          <p:cNvSpPr/>
          <p:nvPr/>
        </p:nvSpPr>
        <p:spPr>
          <a:xfrm>
            <a:off x="6949440" y="2011680"/>
            <a:ext cx="1463040" cy="14630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Íc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3774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Referências principais: Sommerville (2011); Elmasri e Navathe (2011); Laudon e Laudon (2014); OWASP (2021).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tica">
  <a:themeElements>
    <a:clrScheme name="Optica">
      <a:dk1>
        <a:srgbClr val="1B2A3A"/>
      </a:dk1>
      <a:lt1>
        <a:srgbClr val="FFFFFF"/>
      </a:lt1>
      <a:dk2>
        <a:srgbClr val="0B3C5D"/>
      </a:dk2>
      <a:lt2>
        <a:srgbClr val="EEF3F6"/>
      </a:lt2>
      <a:accent1>
        <a:srgbClr val="1C7293"/>
      </a:accent1>
      <a:accent2>
        <a:srgbClr val="F2A541"/>
      </a:accent2>
      <a:accent3>
        <a:srgbClr val="328CC1"/>
      </a:accent3>
      <a:accent4>
        <a:srgbClr val="5B7C99"/>
      </a:accent4>
      <a:accent5>
        <a:srgbClr val="2E9E83"/>
      </a:accent5>
      <a:accent6>
        <a:srgbClr val="C8553D"/>
      </a:accent6>
      <a:hlink>
        <a:srgbClr val="1C7293"/>
      </a:hlink>
      <a:folHlink>
        <a:srgbClr val="5B7C99"/>
      </a:folHlink>
    </a:clrScheme>
    <a:fontScheme name="Optic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Office PowerPoint</Application>
  <PresentationFormat>On-screen Show (16:9)</PresentationFormat>
  <Paragraphs>179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Optica</vt:lpstr>
      <vt:lpstr>Desenvolvimento de um Sistema Web para uma Óptica</vt:lpstr>
      <vt:lpstr>Índice</vt:lpstr>
      <vt:lpstr>Introdução</vt:lpstr>
      <vt:lpstr>Estudo de caso</vt:lpstr>
      <vt:lpstr>Processos actuais</vt:lpstr>
      <vt:lpstr>Problemática</vt:lpstr>
      <vt:lpstr>Objectivo geral</vt:lpstr>
      <vt:lpstr>Objectivos específicos</vt:lpstr>
      <vt:lpstr>Pergunta de pesquisa</vt:lpstr>
      <vt:lpstr>Comparação: métodos de gestão</vt:lpstr>
      <vt:lpstr>Comparação: tecnologias</vt:lpstr>
      <vt:lpstr>Tecnologias a utilizar</vt:lpstr>
      <vt:lpstr>Arquitectura em três camadas</vt:lpstr>
      <vt:lpstr>Protótipo proposto</vt:lpstr>
      <vt:lpstr>Conclusão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um Sistema Web para uma Óptica</dc:title>
  <dc:subject>PptxGenJS Presentation</dc:subject>
  <dc:creator>PptxGenJS</dc:creator>
  <cp:lastModifiedBy>Anibal Seraponzo</cp:lastModifiedBy>
  <cp:revision>1</cp:revision>
  <dcterms:created xsi:type="dcterms:W3CDTF">2026-10-16T19:51:42Z</dcterms:created>
  <dcterms:modified xsi:type="dcterms:W3CDTF">2026-10-16T20:11:32Z</dcterms:modified>
</cp:coreProperties>
</file>